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b="1" sz="4400">
                <a:solidFill>
                  <a:srgbClr val="FFFFFF"/>
                </a:solidFill>
              </a:defRPr>
            </a:pPr>
            <a:r>
              <a:t>LA NUEVA FACTURACIÓN EN ESPAÑA</a:t>
            </a:r>
          </a:p>
          <a:p>
            <a:pPr algn="l">
              <a:spcAft>
                <a:spcPts val="1000"/>
              </a:spcAft>
              <a:defRPr b="1" sz="2800">
                <a:solidFill>
                  <a:srgbClr val="D97706"/>
                </a:solidFill>
              </a:defRPr>
            </a:pPr>
            <a:r>
              <a:t>Guía Sencilla para Autónomos y PYMEs</a:t>
            </a:r>
          </a:p>
          <a:p>
            <a:pPr algn="l">
              <a:defRPr sz="1800">
                <a:solidFill>
                  <a:srgbClr val="93C5FD"/>
                </a:solidFill>
              </a:defRPr>
            </a:pPr>
            <a:r>
              <a:t>Entendiendo Veri*factu, la Ley Crea y Crece, y cómo la tecnología automatiza todo.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¿Por qué cambia la facturación en España?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004481"/>
                </a:solidFill>
              </a:defRPr>
            </a:pPr>
            <a:r>
              <a:t>1. Fin de las facturas en papel y hojas de cálculo tradicionales</a:t>
            </a:r>
          </a:p>
          <a:p>
            <a:pPr>
              <a:spcAft>
                <a:spcPts val="1800"/>
              </a:spcAft>
              <a:defRPr sz="1600">
                <a:solidFill>
                  <a:srgbClr val="1E293B"/>
                </a:solidFill>
              </a:defRPr>
            </a:pPr>
            <a:r>
              <a:t>   - Hacienda digitaliza el 100% de la facturación comercial para evitar la contabilidad paralela o en negro.</a:t>
            </a:r>
          </a:p>
          <a:p>
            <a:pPr>
              <a:spcAft>
                <a:spcPts val="600"/>
              </a:spcAft>
              <a:defRPr b="1" sz="2000">
                <a:solidFill>
                  <a:srgbClr val="004481"/>
                </a:solidFill>
              </a:defRPr>
            </a:pPr>
            <a:r>
              <a:t>2. Mayor control fiscal para evitar el fraude de doble uso</a:t>
            </a:r>
          </a:p>
          <a:p>
            <a:pPr>
              <a:spcAft>
                <a:spcPts val="1800"/>
              </a:spcAft>
              <a:defRPr sz="1600">
                <a:solidFill>
                  <a:srgbClr val="1E293B"/>
                </a:solidFill>
              </a:defRPr>
            </a:pPr>
            <a:r>
              <a:t>   - Todo el software de facturación debe estar homologado e impedir que se borren, alteren o dupliquen registros.</a:t>
            </a:r>
          </a:p>
          <a:p>
            <a:pPr>
              <a:spcAft>
                <a:spcPts val="600"/>
              </a:spcAft>
              <a:defRPr b="1" sz="2000">
                <a:solidFill>
                  <a:srgbClr val="004481"/>
                </a:solidFill>
              </a:defRPr>
            </a:pPr>
            <a:r>
              <a:t>3. Reducción de la morosidad comercial (Plazos de Cobro)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   - Se obligará a registrar la fecha exacta en la que se cobran las facturas para vigilar que se pague antes de 60 días.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Reglamento Veri*factu: La regla del bolígrafo de tinta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4481"/>
                </a:solidFill>
              </a:defRPr>
            </a:pPr>
            <a:r>
              <a:t>Conceptos Clave de Veri*factu: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• Inalterabilidad absoluta:</a:t>
            </a:r>
          </a:p>
          <a:p>
            <a:pPr>
              <a:spcAft>
                <a:spcPts val="1200"/>
              </a:spcAft>
              <a:defRPr sz="1400">
                <a:solidFill>
                  <a:srgbClr val="64748B"/>
                </a:solidFill>
              </a:defRPr>
            </a:pPr>
            <a:r>
              <a:t>  No se pueden borrar facturas. Si hay un error, se genera una factura rectificativa de anulación.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• Encadenamiento criptográfico:</a:t>
            </a:r>
          </a:p>
          <a:p>
            <a:pPr>
              <a:spcAft>
                <a:spcPts val="1200"/>
              </a:spcAft>
              <a:defRPr sz="1400">
                <a:solidFill>
                  <a:srgbClr val="64748B"/>
                </a:solidFill>
              </a:defRPr>
            </a:pPr>
            <a:r>
              <a:t>  Cada factura lleva cosida digitalmente la huella de la anterior. Alterar una factura antigua rompe toda la cadena.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• Código QR de Verificación: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  El cliente puede escanear la factura con su móvil y verificar en la sede web de la AEAT que es legal al instante.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4572000" cy="4572000"/>
          </a:xfrm>
          <a:prstGeom prst="roundRect">
            <a:avLst/>
          </a:prstGeom>
          <a:solidFill>
            <a:srgbClr val="EEF4FA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6002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D97706"/>
                </a:solidFill>
              </a:defRPr>
            </a:pPr>
            <a:r>
              <a:t>📅 PLAZOS DE ADAPTACIÓN: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• Sociedades (Pymes, S.L., S.A.):</a:t>
            </a:r>
          </a:p>
          <a:p>
            <a:pPr>
              <a:spcAft>
                <a:spcPts val="1200"/>
              </a:spcAft>
              <a:defRPr sz="1400">
                <a:solidFill>
                  <a:srgbClr val="64748B"/>
                </a:solidFill>
              </a:defRPr>
            </a:pPr>
            <a:r>
              <a:t>  Obligatorio antes del 1 de enero de 2027.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• Autónomos y Profesionales:</a:t>
            </a:r>
          </a:p>
          <a:p>
            <a:pPr>
              <a:spcAft>
                <a:spcPts val="2500"/>
              </a:spcAft>
              <a:defRPr sz="1400">
                <a:solidFill>
                  <a:srgbClr val="64748B"/>
                </a:solidFill>
              </a:defRPr>
            </a:pPr>
            <a:r>
              <a:t>  Obligatorio antes del 1 de julio de 2027.</a:t>
            </a:r>
          </a:p>
          <a:p>
            <a:pPr>
              <a:defRPr b="1" sz="1500">
                <a:solidFill>
                  <a:srgbClr val="15803D"/>
                </a:solidFill>
              </a:defRPr>
            </a:pPr>
            <a:r>
              <a:t>💡 Metáfora fácil:</a:t>
            </a:r>
          </a:p>
          <a:p>
            <a:pPr>
              <a:defRPr i="1" sz="1300">
                <a:solidFill>
                  <a:srgbClr val="1E293B"/>
                </a:solidFill>
              </a:defRPr>
            </a:pPr>
            <a:r>
              <a:t>Es como escribir un diario de cuentas en papel encuadernado y cosido a mano. Si intentas arrancar una página o borrar un renglón, se desmorona todo el libro.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Ley Crea y Crece: El adiós definitivo al PDF e-mail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4481"/>
                </a:solidFill>
              </a:defRPr>
            </a:pPr>
            <a:r>
              <a:t>La Factura Electrónica Obligatoria entre Negocios (B2B)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• Formato digital estructurado obligatorio:</a:t>
            </a:r>
          </a:p>
          <a:p>
            <a:pPr>
              <a:spcAft>
                <a:spcPts val="1200"/>
              </a:spcAft>
              <a:defRPr sz="1500">
                <a:solidFill>
                  <a:srgbClr val="64748B"/>
                </a:solidFill>
              </a:defRPr>
            </a:pPr>
            <a:r>
              <a:t>  Ya no vale mandar un Word o un PDF por email. Las facturas se deben emitir en ficheros XML (Facturae o UBL) firmados digitalmente, los cuales se transmiten directamente al sistema del cliente.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• Obligatoriedad de informar los estados de pago:</a:t>
            </a:r>
          </a:p>
          <a:p>
            <a:pPr>
              <a:spcAft>
                <a:spcPts val="1200"/>
              </a:spcAft>
              <a:defRPr sz="1500">
                <a:solidFill>
                  <a:srgbClr val="64748B"/>
                </a:solidFill>
              </a:defRPr>
            </a:pPr>
            <a:r>
              <a:t>  Tanto el emisor como el receptor deben registrar cuándo se recibe la factura, cuándo se acepta y el día exacto en que se realiza el cobro bancario real.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• Lucha contra la morosidad comercial: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  Hacienda controlará que las empresas paguen en el plazo legal (máximo 60 días). Las empresas que incumplan estos plazos de pago no podrán acceder a subvenciones o ayudas públicas.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Nuestra Solución: FacturaFácil para Autónomos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4481"/>
                </a:solidFill>
              </a:defRPr>
            </a:pPr>
            <a:r>
              <a:t>¿Cómo te ayuda el programa?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1. Fácil y sin tecnicismos:</a:t>
            </a: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   Solo introduces qué has vendido e importes. La numeración y cálculos matemáticos se hacen solos.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2. Cumplimiento legal automático:</a:t>
            </a:r>
          </a:p>
          <a:p>
            <a:pPr>
              <a:spcAft>
                <a:spcPts val="1000"/>
              </a:spcAft>
              <a:defRPr sz="1400">
                <a:solidFill>
                  <a:srgbClr val="64748B"/>
                </a:solidFill>
              </a:defRPr>
            </a:pPr>
            <a:r>
              <a:t>   Calcula la huella criptográfica de Veri*factu y genera el código QR sin que tengas que intervenir.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3. Copias en PDF de calidad: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   Con un clic puedes imprimir en papel o guardar en tu ordenador la factura en formato oficial A4 corporativo.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4572000" cy="4572000"/>
          </a:xfrm>
          <a:prstGeom prst="roundRect">
            <a:avLst/>
          </a:prstGeom>
          <a:solidFill>
            <a:srgbClr val="EEF4FA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60020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D97706"/>
                </a:solidFill>
              </a:defRPr>
            </a:pPr>
            <a:r>
              <a:t>👍 PENSADO PARA TODOS: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• Agenda de clientes integrada:</a:t>
            </a:r>
          </a:p>
          <a:p>
            <a:pPr>
              <a:spcAft>
                <a:spcPts val="1000"/>
              </a:spcAft>
              <a:defRPr sz="1300">
                <a:solidFill>
                  <a:srgbClr val="64748B"/>
                </a:solidFill>
              </a:defRPr>
            </a:pPr>
            <a:r>
              <a:t>  Guarda a tus clientes habituales una vez y selecciónalos con un simple desplegable.</a:t>
            </a:r>
          </a:p>
          <a:p>
            <a:pPr>
              <a:defRPr b="1" sz="1500">
                <a:solidFill>
                  <a:srgbClr val="1E293B"/>
                </a:solidFill>
              </a:defRPr>
            </a:pPr>
            <a:r>
              <a:t>• Guardado en navegador:</a:t>
            </a:r>
          </a:p>
          <a:p>
            <a:pPr>
              <a:spcAft>
                <a:spcPts val="1500"/>
              </a:spcAft>
              <a:defRPr sz="1300">
                <a:solidFill>
                  <a:srgbClr val="64748B"/>
                </a:solidFill>
              </a:defRPr>
            </a:pPr>
            <a:r>
              <a:t>  No requiere contraseñas complejas. Se guarda en el navegador de tu ordenador de forma privada y segura.</a:t>
            </a:r>
          </a:p>
          <a:p>
            <a:pPr>
              <a:defRPr b="1" sz="1500">
                <a:solidFill>
                  <a:srgbClr val="15803D"/>
                </a:solidFill>
              </a:defRPr>
            </a:pPr>
            <a:r>
              <a:t>🛡️ 100% de confianza: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El modo de pruebas actual no envía datos reales a Hacienda. Puedes trastear, cometer errores y ensayar sin ningún miedo a sanciones.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44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37160"/>
            <a:ext cx="108173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Hoja de ruta: Plan de acción sencillo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000">
                <a:solidFill>
                  <a:srgbClr val="004481"/>
                </a:solidFill>
              </a:defRPr>
            </a:pPr>
            <a:r>
              <a:t>Cómo prepararse con tiempo y sin agobios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1. Practicar con la demo actual</a:t>
            </a:r>
          </a:p>
          <a:p>
            <a:pPr>
              <a:spcAft>
                <a:spcPts val="1000"/>
              </a:spcAft>
              <a:defRPr sz="1500">
                <a:solidFill>
                  <a:srgbClr val="64748B"/>
                </a:solidFill>
              </a:defRPr>
            </a:pPr>
            <a:r>
              <a:t>   Dedica 5 minutos a crear clientes ficticios y hacer facturas simuladas en FacturaFácil para habituarte al cambio.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2. Configurar los datos de tu empresa</a:t>
            </a:r>
          </a:p>
          <a:p>
            <a:pPr>
              <a:spcAft>
                <a:spcPts val="1000"/>
              </a:spcAft>
              <a:defRPr sz="1500">
                <a:solidFill>
                  <a:srgbClr val="64748B"/>
                </a:solidFill>
              </a:defRPr>
            </a:pPr>
            <a:r>
              <a:t>   Completa tu NIF y dirección en la pestaña de configuración para tener la herramienta lista para facturar en tu día a día.</a:t>
            </a:r>
          </a:p>
          <a:p>
            <a:pPr>
              <a:defRPr b="1" sz="1600">
                <a:solidFill>
                  <a:srgbClr val="1E293B"/>
                </a:solidFill>
              </a:defRPr>
            </a:pPr>
            <a:r>
              <a:t>3. Estar listos antes de 2027</a:t>
            </a:r>
          </a:p>
          <a:p>
            <a:pPr>
              <a:defRPr sz="1500">
                <a:solidFill>
                  <a:srgbClr val="64748B"/>
                </a:solidFill>
              </a:defRPr>
            </a:pPr>
            <a:r>
              <a:t>   Disponemos de margen de tiempo de sobra. Adaptarse antes de las fechas límite nos garantiza una transición tranquila y segura.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