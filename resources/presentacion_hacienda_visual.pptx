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b="1" sz="4200">
                <a:solidFill>
                  <a:srgbClr val="FFFFFF"/>
                </a:solidFill>
              </a:defRPr>
            </a:pPr>
            <a:r>
              <a:t>LA NUEVA FACTURACIÓN EN ESPAÑA</a:t>
            </a:r>
          </a:p>
          <a:p>
            <a:pPr>
              <a:spcAft>
                <a:spcPts val="1000"/>
              </a:spcAft>
              <a:defRPr b="1" sz="2600">
                <a:solidFill>
                  <a:srgbClr val="D97706"/>
                </a:solidFill>
              </a:defRPr>
            </a:pPr>
            <a:r>
              <a:t>Guía Visual Sencilla para Autónomos y PYMEs</a:t>
            </a:r>
          </a:p>
          <a:p>
            <a:pPr>
              <a:defRPr sz="1600">
                <a:solidFill>
                  <a:srgbClr val="93C5FD"/>
                </a:solidFill>
              </a:defRPr>
            </a:pPr>
            <a:r>
              <a:t>Entendiendo Veri*factu, la Ley Crea y Crece, y el porqué de la digitalización fiscal.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4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8173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¿Por qué cambia la facturación en España?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004481"/>
                </a:solidFill>
              </a:defRPr>
            </a:pPr>
            <a:r>
              <a:t>1. Fin de las facturas manuales o en Word/Excel sueltos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   - Hacienda digitaliza los negocios para evitar la contabilidad paralela o en negro.</a:t>
            </a:r>
          </a:p>
          <a:p>
            <a:pPr>
              <a:spcAft>
                <a:spcPts val="600"/>
              </a:spcAft>
              <a:defRPr b="1" sz="2000">
                <a:solidFill>
                  <a:srgbClr val="004481"/>
                </a:solidFill>
              </a:defRPr>
            </a:pPr>
            <a:r>
              <a:t>2. Mayor control fiscal para evitar el fraude de doble uso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   - Todo el software de facturación debe estar homologado e impedir que se borren o modifiquen registros.</a:t>
            </a:r>
          </a:p>
          <a:p>
            <a:pPr>
              <a:spcAft>
                <a:spcPts val="600"/>
              </a:spcAft>
              <a:defRPr b="1" sz="2000">
                <a:solidFill>
                  <a:srgbClr val="004481"/>
                </a:solidFill>
              </a:defRPr>
            </a:pPr>
            <a:r>
              <a:t>3. Reducción de la morosidad comercial (Plazos de Cobro)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   - Se obligará a registrar cuándo se cobran las facturas reales para vigilar que se pague antes de 60 días.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4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8173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Reglamento Veri*factu: La regla del bolígrafo de tinta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2000">
                <a:solidFill>
                  <a:srgbClr val="004481"/>
                </a:solidFill>
              </a:defRPr>
            </a:pPr>
            <a:r>
              <a:t>Conceptos Clave de Veri*factu:</a:t>
            </a:r>
          </a:p>
          <a:p>
            <a:pPr>
              <a:defRPr b="1" sz="1500">
                <a:solidFill>
                  <a:srgbClr val="1E293B"/>
                </a:solidFill>
              </a:defRPr>
            </a:pPr>
            <a:r>
              <a:t>• Inalterabilidad absoluta:</a:t>
            </a:r>
          </a:p>
          <a:p>
            <a:pPr>
              <a:spcAft>
                <a:spcPts val="1000"/>
              </a:spcAft>
              <a:defRPr sz="1300">
                <a:solidFill>
                  <a:srgbClr val="64748B"/>
                </a:solidFill>
              </a:defRPr>
            </a:pPr>
            <a:r>
              <a:t>  No se pueden borrar facturas. Si hay un error, se genera una factura rectificativa de anulación.</a:t>
            </a:r>
          </a:p>
          <a:p>
            <a:pPr>
              <a:defRPr b="1" sz="1500">
                <a:solidFill>
                  <a:srgbClr val="1E293B"/>
                </a:solidFill>
              </a:defRPr>
            </a:pPr>
            <a:r>
              <a:t>• Encadenamiento criptográfico:</a:t>
            </a:r>
          </a:p>
          <a:p>
            <a:pPr>
              <a:spcAft>
                <a:spcPts val="1000"/>
              </a:spcAft>
              <a:defRPr sz="1300">
                <a:solidFill>
                  <a:srgbClr val="64748B"/>
                </a:solidFill>
              </a:defRPr>
            </a:pPr>
            <a:r>
              <a:t>  Cada factura lleva cosida digitalmente la huella de la anterior. Alterar una factura antigua rompe toda la cadena.</a:t>
            </a:r>
          </a:p>
          <a:p>
            <a:pPr>
              <a:defRPr b="1" sz="1500">
                <a:solidFill>
                  <a:srgbClr val="1E293B"/>
                </a:solidFill>
              </a:defRPr>
            </a:pPr>
            <a:r>
              <a:t>• Código QR de Verificación: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  El cliente puede escanear la factura con su móvil y verificar en la sede web de la AEAT que es legal al instante.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303520" cy="4572000"/>
          </a:xfrm>
          <a:prstGeom prst="roundRect">
            <a:avLst/>
          </a:prstGeom>
          <a:solidFill>
            <a:srgbClr val="EEF4FA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erifactu_chain_diagram_17805799951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11680"/>
            <a:ext cx="475488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14630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D97706"/>
                </a:solidFill>
              </a:defRPr>
            </a:pPr>
            <a:r>
              <a:t>🔗 ESQUEMA VISUAL DEL ENCADENAMIENTO: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4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8173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Comparativa: ¿Por qué hay que facturar así ahora?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455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3383280"/>
                <a:gridCol w="3319272"/>
              </a:tblGrid>
              <a:tr h="950976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Aspecto</a:t>
                      </a:r>
                    </a:p>
                  </a:txBody>
                  <a:tcPr>
                    <a:solidFill>
                      <a:srgbClr val="0044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Facturación Antigua (Manual / Word)</a:t>
                      </a:r>
                    </a:p>
                  </a:txBody>
                  <a:tcPr>
                    <a:solidFill>
                      <a:srgbClr val="0044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Nueva Facturación (Ley Verifactu / Crea)</a:t>
                      </a:r>
                    </a:p>
                  </a:txBody>
                  <a:tcPr>
                    <a:solidFill>
                      <a:srgbClr val="0044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¿Por qué se hace así ahora? (Motivo)</a:t>
                      </a:r>
                    </a:p>
                  </a:txBody>
                  <a:tcPr>
                    <a:solidFill>
                      <a:srgbClr val="004481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04481"/>
                          </a:solidFill>
                        </a:defRPr>
                      </a:pPr>
                      <a:r>
                        <a:t>Borrar/Editar</a:t>
                      </a:r>
                    </a:p>
                    <a:p>
                      <a:pPr>
                        <a:defRPr sz="1150" b="1">
                          <a:solidFill>
                            <a:srgbClr val="004481"/>
                          </a:solidFill>
                        </a:defRPr>
                      </a:pPr>
                      <a:r>
                        <a:t>Facturas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Se podía corregir un número o reescribir un concepto en un Word/Excel.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Totalmente prohibido. Debe emitirse una factura rectificativa nueva.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5803D"/>
                          </a:solidFill>
                        </a:defRPr>
                      </a:pPr>
                      <a:r>
                        <a:t>Para asegurar la transparencia y evitar que se oculten o eliminen ventas reales.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04481"/>
                          </a:solidFill>
                        </a:defRPr>
                      </a:pPr>
                      <a:r>
                        <a:t>Formato del</a:t>
                      </a:r>
                    </a:p>
                    <a:p>
                      <a:pPr>
                        <a:defRPr sz="1150" b="1">
                          <a:solidFill>
                            <a:srgbClr val="004481"/>
                          </a:solidFill>
                        </a:defRPr>
                      </a:pPr>
                      <a:r>
                        <a:t>Documento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Papel físico impreso o PDF plano enviado por correo electrónico común.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Ficheros electrónicos estructurados (XML / Facturae) o con firma y QR.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5803D"/>
                          </a:solidFill>
                        </a:defRPr>
                      </a:pPr>
                      <a:r>
                        <a:t>Para permitir el cruce automático de datos fiscales y agilizar las auditorías.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04481"/>
                          </a:solidFill>
                        </a:defRPr>
                      </a:pPr>
                      <a:r>
                        <a:t>Envío a la</a:t>
                      </a:r>
                    </a:p>
                    <a:p>
                      <a:pPr>
                        <a:defRPr sz="1150" b="1">
                          <a:solidFill>
                            <a:srgbClr val="004481"/>
                          </a:solidFill>
                        </a:defRPr>
                      </a:pPr>
                      <a:r>
                        <a:t>Administración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Se declaraba en resúmenes globales cada 3 meses (Modelo 303/390).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Envío inmediato de cada registro de factura a la AEAT al facturar.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5803D"/>
                          </a:solidFill>
                        </a:defRPr>
                      </a:pPr>
                      <a:r>
                        <a:t>Para evitar que los datos fiscales se manipulen tarde o se pierdan.</a:t>
                      </a:r>
                    </a:p>
                  </a:txBody>
                  <a:tcPr>
                    <a:solidFill>
                      <a:srgbClr val="EEF4FA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04481"/>
                          </a:solidFill>
                        </a:defRPr>
                      </a:pPr>
                      <a:r>
                        <a:t>Control de</a:t>
                      </a:r>
                    </a:p>
                    <a:p>
                      <a:pPr>
                        <a:defRPr sz="1150" b="1">
                          <a:solidFill>
                            <a:srgbClr val="004481"/>
                          </a:solidFill>
                        </a:defRPr>
                      </a:pPr>
                      <a:r>
                        <a:t>Cobros (B2B)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Sin control. Retrasos y morosidad habituales sin consecuencias oficiales.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</a:defRPr>
                      </a:pPr>
                      <a:r>
                        <a:t>Obligatoriedad de informar la fecha del cobro bancario real de cada factura.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5803D"/>
                          </a:solidFill>
                        </a:defRPr>
                      </a:pPr>
                      <a:r>
                        <a:t>Para combatir la morosidad y proteger la liquidez de los autónomos.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4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8173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Ley Crea y Crece: El adiós definitivo al PDF e-mail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2000">
                <a:solidFill>
                  <a:srgbClr val="004481"/>
                </a:solidFill>
              </a:defRPr>
            </a:pPr>
            <a:r>
              <a:t>La Factura Electrónica Obligatoria entre Negocios (B2B)</a:t>
            </a:r>
          </a:p>
          <a:p>
            <a:pPr>
              <a:defRPr b="1" sz="1600">
                <a:solidFill>
                  <a:srgbClr val="1E293B"/>
                </a:solidFill>
              </a:defRPr>
            </a:pPr>
            <a:r>
              <a:t>• Formato digital estructurado obligatorio:</a:t>
            </a:r>
          </a:p>
          <a:p>
            <a:pPr>
              <a:spcAft>
                <a:spcPts val="1200"/>
              </a:spcAft>
              <a:defRPr sz="1400">
                <a:solidFill>
                  <a:srgbClr val="64748B"/>
                </a:solidFill>
              </a:defRPr>
            </a:pPr>
            <a:r>
              <a:t>  Ya no vale mandar un PDF por email. Las facturas se deben emitir en ficheros XML (Facturae o UBL) firmados digitalmente, transmitidos directamente al sistema del cliente.</a:t>
            </a:r>
          </a:p>
          <a:p>
            <a:pPr>
              <a:defRPr b="1" sz="1600">
                <a:solidFill>
                  <a:srgbClr val="1E293B"/>
                </a:solidFill>
              </a:defRPr>
            </a:pPr>
            <a:r>
              <a:t>• Obligatoriedad de informar los estados de pago:</a:t>
            </a:r>
          </a:p>
          <a:p>
            <a:pPr>
              <a:spcAft>
                <a:spcPts val="1200"/>
              </a:spcAft>
              <a:defRPr sz="1400">
                <a:solidFill>
                  <a:srgbClr val="64748B"/>
                </a:solidFill>
              </a:defRPr>
            </a:pPr>
            <a:r>
              <a:t>  Ambas partes deben reportar cuándo se recibe la factura y el día exacto en que se realiza el cobro bancario real.</a:t>
            </a:r>
          </a:p>
          <a:p>
            <a:pPr>
              <a:defRPr b="1" sz="1600">
                <a:solidFill>
                  <a:srgbClr val="1E293B"/>
                </a:solidFill>
              </a:defRPr>
            </a:pPr>
            <a:r>
              <a:t>• Lucha contra la morosidad comercial: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  Hacienda vigilará que las empresas paguen en el plazo legal (máximo 60 días). Quien incumpla no podrá acceder a subvenciones.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4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8173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Nuestra Solución: FacturaFácil para Autónomos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2000">
                <a:solidFill>
                  <a:srgbClr val="004481"/>
                </a:solidFill>
              </a:defRPr>
            </a:pPr>
            <a:r>
              <a:t>¿Cómo te ayuda el programa?</a:t>
            </a:r>
          </a:p>
          <a:p>
            <a:pPr>
              <a:defRPr b="1" sz="1500">
                <a:solidFill>
                  <a:srgbClr val="1E293B"/>
                </a:solidFill>
              </a:defRPr>
            </a:pPr>
            <a:r>
              <a:t>1. Fácil y sin tecnicismos:</a:t>
            </a:r>
          </a:p>
          <a:p>
            <a:pPr>
              <a:spcAft>
                <a:spcPts val="1000"/>
              </a:spcAft>
              <a:defRPr sz="1300">
                <a:solidFill>
                  <a:srgbClr val="64748B"/>
                </a:solidFill>
              </a:defRPr>
            </a:pPr>
            <a:r>
              <a:t>   Solo introduces qué has vendido e importes. La numeración y cálculos se hacen solos.</a:t>
            </a:r>
          </a:p>
          <a:p>
            <a:pPr>
              <a:defRPr b="1" sz="1500">
                <a:solidFill>
                  <a:srgbClr val="1E293B"/>
                </a:solidFill>
              </a:defRPr>
            </a:pPr>
            <a:r>
              <a:t>2. Cumplimiento legal automático:</a:t>
            </a:r>
          </a:p>
          <a:p>
            <a:pPr>
              <a:spcAft>
                <a:spcPts val="1000"/>
              </a:spcAft>
              <a:defRPr sz="1300">
                <a:solidFill>
                  <a:srgbClr val="64748B"/>
                </a:solidFill>
              </a:defRPr>
            </a:pPr>
            <a:r>
              <a:t>   Calcula la huella criptográfica de Veri*factu y genera el código QR sin que tengas que intervenir.</a:t>
            </a:r>
          </a:p>
          <a:p>
            <a:pPr>
              <a:defRPr b="1" sz="1500">
                <a:solidFill>
                  <a:srgbClr val="1E293B"/>
                </a:solidFill>
              </a:defRPr>
            </a:pPr>
            <a:r>
              <a:t>3. Copias en PDF de calidad: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   Con un clic puedes imprimir en papel o guardar en tu ordenador la factura en formato oficial A4.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303520" cy="4572000"/>
          </a:xfrm>
          <a:prstGeom prst="roundRect">
            <a:avLst/>
          </a:prstGeom>
          <a:solidFill>
            <a:srgbClr val="EEF4FA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cturacion_flow_steps_17805800103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11680"/>
            <a:ext cx="475488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14630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D97706"/>
                </a:solidFill>
              </a:defRPr>
            </a:pPr>
            <a:r>
              <a:t>💼 PROCESO DE FACTURACIÓN EN 4 PASOS: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4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8173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Hoja de ruta: Plan de acción sencillo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2000">
                <a:solidFill>
                  <a:srgbClr val="004481"/>
                </a:solidFill>
              </a:defRPr>
            </a:pPr>
            <a:r>
              <a:t>Cómo prepararse con tiempo y sin agobios</a:t>
            </a:r>
          </a:p>
          <a:p>
            <a:pPr>
              <a:defRPr b="1" sz="1600">
                <a:solidFill>
                  <a:srgbClr val="1E293B"/>
                </a:solidFill>
              </a:defRPr>
            </a:pPr>
            <a:r>
              <a:t>1. Practicar con la demo actual</a:t>
            </a:r>
          </a:p>
          <a:p>
            <a:pPr>
              <a:spcAft>
                <a:spcPts val="1000"/>
              </a:spcAft>
              <a:defRPr sz="1500">
                <a:solidFill>
                  <a:srgbClr val="64748B"/>
                </a:solidFill>
              </a:defRPr>
            </a:pPr>
            <a:r>
              <a:t>   Dedica unos minutos a crear clientes ficticios y hacer facturas simuladas en FacturaFácil para habituarte al cambio.</a:t>
            </a:r>
          </a:p>
          <a:p>
            <a:pPr>
              <a:defRPr b="1" sz="1600">
                <a:solidFill>
                  <a:srgbClr val="1E293B"/>
                </a:solidFill>
              </a:defRPr>
            </a:pPr>
            <a:r>
              <a:t>2. Configurar los datos de tu empresa</a:t>
            </a:r>
          </a:p>
          <a:p>
            <a:pPr>
              <a:spcAft>
                <a:spcPts val="1000"/>
              </a:spcAft>
              <a:defRPr sz="1500">
                <a:solidFill>
                  <a:srgbClr val="64748B"/>
                </a:solidFill>
              </a:defRPr>
            </a:pPr>
            <a:r>
              <a:t>   Completa tu NIF y dirección en la pestaña de configuración para tener la herramienta lista para facturar en tu día a día.</a:t>
            </a:r>
          </a:p>
          <a:p>
            <a:pPr>
              <a:defRPr b="1" sz="1600">
                <a:solidFill>
                  <a:srgbClr val="1E293B"/>
                </a:solidFill>
              </a:defRPr>
            </a:pPr>
            <a:r>
              <a:t>3. Estar listos antes de 2027</a:t>
            </a:r>
          </a:p>
          <a:p>
            <a:pPr>
              <a:defRPr sz="1500">
                <a:solidFill>
                  <a:srgbClr val="64748B"/>
                </a:solidFill>
              </a:defRPr>
            </a:pPr>
            <a:r>
              <a:t>   Disponemos de margen de tiempo de sobra. Adaptarse antes de las fechas límite nos garantiza una transición tranquila y segura.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